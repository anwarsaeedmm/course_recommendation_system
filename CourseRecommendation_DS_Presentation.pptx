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Sample Domain Match Scores (out of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Domain Score Weight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AI/ML</c:v>
                  </c:pt>
                  <c:pt idx="1">
                    <c:v>Data Sci</c:v>
                  </c:pt>
                  <c:pt idx="2">
                    <c:v>DevOps</c:v>
                  </c:pt>
                  <c:pt idx="3">
                    <c:v>Cloud</c:v>
                  </c:pt>
                  <c:pt idx="4">
                    <c:v>UI/UX</c:v>
                  </c:pt>
                  <c:pt idx="5">
                    <c:v>MERN</c:v>
                  </c:pt>
                  <c:pt idx="6">
                    <c:v>React</c:v>
                  </c:pt>
                  <c:pt idx="7">
                    <c:v>BA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</c:v>
                </c:pt>
                <c:pt idx="1">
                  <c:v>80</c:v>
                </c:pt>
                <c:pt idx="2">
                  <c:v>75</c:v>
                </c:pt>
                <c:pt idx="3">
                  <c:v>70</c:v>
                </c:pt>
                <c:pt idx="4">
                  <c:v>68</c:v>
                </c:pt>
                <c:pt idx="5">
                  <c:v>65</c:v>
                </c:pt>
                <c:pt idx="6">
                  <c:v>62</c:v>
                </c:pt>
                <c:pt idx="7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present our capstone project — a Course Interest Recommendation System that uses data science to personalise career-path suggestions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students lack personalised, data-driven guidance. Generic advice fails to account for individual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is a four-pillar system: profile collection, interest mapping, scoring, and ranked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5 layers: input → collection → feature engineering → recommendation engine →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collect 8 feature types across 2 form steps. The profile score ranges 0-100% and factors in academic + career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algorithm is a weighted dot-product model. Questions are encoded as binary, multiplied by domain weight matrix, boosted by explicit interests, then normalised.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covers 14 domains spanning frontend, backend, data, cloud, mobile, design, and business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plan a 3-phase roadmap: current rule-based system → ML classification → deep learning with real-time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measure both technical metrics (precision, coverage) and user-centric metrics (satisfaction, diversity).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journey is 4 steps: profile → interests → processing → results. Total time under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future directions: LLM integration, mobile app, real dataset, job market live data, college dashboards, and multilingual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Invite questions. Key message: this system is personalised, instant, scalable, and solves a real student placement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731520"/>
            <a:ext cx="3200400" cy="3200400"/>
          </a:xfrm>
          <a:prstGeom prst="ellipse">
            <a:avLst/>
          </a:prstGeom>
          <a:solidFill>
            <a:srgbClr val="0D9488">
              <a:alpha val="22000"/>
            </a:srgbClr>
          </a:solidFill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2560320" cy="2560320"/>
          </a:xfrm>
          <a:prstGeom prst="ellipse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SCIENCE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Course Interest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Recommendation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An AI-powered multi-factor profiling engine that matches students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to the most suitable tech career path using behavioral &amp; academic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9488">
              <a:alpha val="15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Presented by  ·  Data Science Department  ·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188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⚠️  Career Confusion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Students graduate without a clear tech career direction, leading to mismatched job applications and high dropout rates.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47488" y="1188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📉  One-Size-Fits-All Advice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47488" y="15544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Generic counselling ignores individual academic background, skills gaps, and personal interests.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971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🔍  No Data-Driven Guidance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3375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Most institutions lack systems to scientifically map a student profile to market-relevant course recommendations.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47488" y="29718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🕐  Late Discovery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33375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Students often discover their best-fit domain only after wasting months on wrong courses or failed placements.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96012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9601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AI-Powered Course Interest Recommendation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965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Multi-Factor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Profiling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Academic + career background inputs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920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65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48716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Interest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Mapping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Domain chips + 10 discovery questions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1965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81728" y="248716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Scoring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Weighted algorithm across 14 domains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19202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06640" y="1965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84848" y="2487168"/>
            <a:ext cx="1700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Ranked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4848" y="292608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Top 5 career paths with match 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97280" y="365760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6576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✅  Students receive personalised, ranked course recommendations in under 2 minutes — no counsellor needed.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1078992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User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1664208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Form UI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(React/HTML)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83080" y="1700784"/>
            <a:ext cx="23774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4248" y="1664208"/>
            <a:ext cx="5486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0824" y="1005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93976" y="1078992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93976" y="1664208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Profile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Interests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83864" y="1700784"/>
            <a:ext cx="23774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5032" y="1664208"/>
            <a:ext cx="5486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1608" y="1005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1078992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664208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Algorithm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84648" y="1700784"/>
            <a:ext cx="23774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5816" y="1664208"/>
            <a:ext cx="5486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22392" y="1005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95544" y="1078992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Recommendation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95544" y="1664208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Weighted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Matching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85432" y="1700784"/>
            <a:ext cx="237744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1664208"/>
            <a:ext cx="5486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23176" y="10058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96328" y="1078992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96328" y="1664208"/>
            <a:ext cx="13167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Ranked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Results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</a:rPr>
              <a:t>TECH STACK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" y="29718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Frontend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4904" y="324612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React / HTML5 / CSS3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20824" y="29260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5688" y="29718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Backend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75688" y="324612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Python / Flask / FastAPI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21608" y="29260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29718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ML / 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76472" y="324612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scikit-learn · pandas · numpy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22392" y="29260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29718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Database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77256" y="324612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SQLite / PostgreSQL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23176" y="292608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D9488">
              <a:alpha val="15000"/>
            </a:srgbClr>
          </a:solidFill>
          <a:ln w="508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297180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Deployment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78040" y="324612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Docker · AWS / Heroku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Data Collection &amp;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463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INPUT FEATURES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53896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Qualification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87168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Degree level (10th → MBA)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801368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647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764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Branch / Stream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7647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Engineering, BSc, BCA, etc.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1122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1122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CGPA / Percentage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87168" y="21122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Academic performance score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496312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459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4597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Backlogs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87168" y="24597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Historical academic issues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843784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807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2807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IT Background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87168" y="28072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Prior tech experience flag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191256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⏸️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Career Gap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87168" y="31546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Employment break indicator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538728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5021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Domain Interest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87168" y="35021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14 tech domain chips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886200"/>
            <a:ext cx="201168" cy="201168"/>
          </a:xfrm>
          <a:prstGeom prst="ellipse">
            <a:avLst/>
          </a:prstGeom>
          <a:solidFill>
            <a:srgbClr val="0D9488">
              <a:alpha val="30000"/>
            </a:srgbClr>
          </a:solidFill>
          <a:ln w="381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849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97280" y="38496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10 Discovery Qs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87168" y="38496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Logical / creative / data etc.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80560" y="960120"/>
            <a:ext cx="42976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FEATURE TYPES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1371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Categorical: 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13716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Qualification, Branch, Domains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1645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Binary (0/1): 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16459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Backlogs, IT Bg, Gap, Exp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1920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Numerical:  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19202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CGPA / Percentage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63440" y="2194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Ordinal:  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2194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Career discovery answers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80560" y="2633472"/>
            <a:ext cx="4297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663440" y="2724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PROFILE SCORE FORMULA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30358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IT Background = Yes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06640" y="30358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+15 pts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328269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Backlogs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06640" y="32826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+10 pts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63440" y="35295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Experience Gap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06640" y="352958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+5 pts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63440" y="37764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CGPA ≥ 8.0 / 75%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06640" y="37764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+10 pts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63440" y="4023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Base Score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406640" y="4023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50 pts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Recommendation Algorithm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6459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61288" y="1170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Answer Encoding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51790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Yes/No answers → binary vector [0,1]. 10-dimensional interest vector per user.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1887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96128" y="1170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Domain Weight Matrix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96128" y="1517904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14×10 matrix maps each question to relevant domains with tuned weights (0–30 pts).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578608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614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2743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Domain Interest Boost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61288" y="309067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Selected domain chips add +20–30 bonus points to signal explicit interest.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578608"/>
            <a:ext cx="4114800" cy="1389888"/>
          </a:xfrm>
          <a:prstGeom prst="roundRect">
            <a:avLst>
              <a:gd name="adj" fmla="val 6579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276148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27432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Score Normalisation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96128" y="3090672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Raw scores normalised to 0–100% using max-scaling for fair comparison.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151376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422452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Ranked Output  —  Top 5 domains returned with label, match %, description, and skill tags.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14 Recommandable Domains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463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MERN Stack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72768" y="96012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72768" y="11247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18488" y="16002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Python Dev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79776" y="96012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79776" y="11247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25496" y="16002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Data Science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86784" y="96012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86784" y="11247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32504" y="16002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AI / ML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93792" y="96012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3792" y="11247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39512" y="16002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Cloud Eng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96012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1247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16002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Flutter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07808" y="96012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07808" y="112471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53528" y="16002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React Dev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58775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🔺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" y="30632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Angular Dev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572768" y="242316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72768" y="258775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💚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18488" y="30632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Node.js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79776" y="242316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79776" y="258775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825496" y="30632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DevOps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86784" y="242316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86784" y="258775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032504" y="30632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UI/UX Design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93792" y="242316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193792" y="258775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239512" y="30632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QA Testing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242316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0" y="258775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🐘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446520" y="30632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PHP Dev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07808" y="2423160"/>
            <a:ext cx="1115568" cy="128016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07808" y="258775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653528" y="306324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Business Analytics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00507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050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Each domain is scored independently  ·  Top 5 shown in results  ·  Scores are mutually comparable  ·  Weights tuned per industry demand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ML Enhancement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371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15568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(Current)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Rule-Based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084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Weighted scoring matrix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6517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Binary feature encoding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32186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Normalised ranking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37856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Static weight tuning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115568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1155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(Next)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6276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ML Classification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2084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Logistic Regression baseline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3008" y="26517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Random Forest 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93008" y="32186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Cross-validated 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7856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Feature importance analysis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115568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1155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(Future)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16276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</a:rPr>
              <a:t>Deep Learning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73368" y="2084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43F5E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Collaborative filtering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73368" y="26517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43F5E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Neural network embeddings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3368" y="32186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43F5E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Real-time personalisation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73368" y="37856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43F5E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Feedback loop training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Evaluation &amp;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2801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14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Domains Covered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9601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10241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33472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Discovery Questions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0241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18304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Input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1696" y="96012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11696" y="10241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&lt; 2s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03136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Response Time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331720"/>
          <a:ext cx="53035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852160" y="2331720"/>
            <a:ext cx="28346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8932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EVALUATION METRICS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89320" y="278892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✔  Precision@5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16368" y="278892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Top-5 domain accuracy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89320" y="313639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✔  User Satisfaction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16368" y="313639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Post-recommendation survey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89320" y="348386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✔  Coverage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16368" y="3483864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All 14 domains reachable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8932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✔  Diversity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516368" y="383133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Varied output per profile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89320" y="41788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✔  Cold-start handling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16368" y="4178808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Default weights for new users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Demo Walkthrough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38528" cy="3840480"/>
          </a:xfrm>
          <a:prstGeom prst="roundRect">
            <a:avLst>
              <a:gd name="adj" fmla="val 471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78992"/>
            <a:ext cx="1481328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Profile 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64208"/>
            <a:ext cx="1536192" cy="20116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6824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6928" y="187452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4B8A6"/>
                </a:solidFill>
              </a:rPr>
              <a:t>Profile 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2999232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Enter name, qualification,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branch, CGPA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3712464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Toggle: backlogs,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IT background, career gap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960120"/>
            <a:ext cx="1938528" cy="3840480"/>
          </a:xfrm>
          <a:prstGeom prst="roundRect">
            <a:avLst>
              <a:gd name="adj" fmla="val 471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15768" y="1078992"/>
            <a:ext cx="1481328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Interest Form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88336" y="1664208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88336" y="1664208"/>
            <a:ext cx="1536192" cy="20116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16824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88336" y="187452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4B8A6"/>
                </a:solidFill>
              </a:rPr>
              <a:t>Interest Form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51760" y="2999232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Select domains of interest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(14 chip options)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712464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Answer 10 yes/no career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discovery questions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08576" y="960120"/>
            <a:ext cx="1938528" cy="3840480"/>
          </a:xfrm>
          <a:prstGeom prst="roundRect">
            <a:avLst>
              <a:gd name="adj" fmla="val 471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37176" y="1078992"/>
            <a:ext cx="1481328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7176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Processing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9744" y="1664208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9744" y="1664208"/>
            <a:ext cx="1536192" cy="20116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16824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9744" y="187452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4B8A6"/>
                </a:solidFill>
              </a:rPr>
              <a:t>Processing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2999232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Profile score computed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(0–100%)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3712464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Answer vector multiplied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by domain weight matrix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9984" y="960120"/>
            <a:ext cx="1938528" cy="3840480"/>
          </a:xfrm>
          <a:prstGeom prst="roundRect">
            <a:avLst>
              <a:gd name="adj" fmla="val 4717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58584" y="1078992"/>
            <a:ext cx="1481328" cy="475488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Results Page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31152" y="1664208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31152" y="1664208"/>
            <a:ext cx="1536192" cy="201168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76872" y="16824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4B8A6"/>
                </a:solidFill>
              </a:rPr>
              <a:t>● ● ●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31152" y="1874520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4B8A6"/>
                </a:solidFill>
              </a:rPr>
              <a:t>Results Page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94576" y="2999232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Top 5 domains ranked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with match 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4576" y="3712464"/>
            <a:ext cx="16093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Career description +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skill tags per domain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86384"/>
            <a:ext cx="914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1247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LLM Integration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Replace scoring engine with Claude / GPT API for contextual, conversational recommendations.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04488" y="11247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1848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Native Android / iOS app with push notifications for course updates and new paths.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84848" y="11247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Real User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61848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Collect 10,000+ student profiles to train supervised ML classifiers with ground-truth labels.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2816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Job Market 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Live integration with LinkedIn / Naukri APIs to align recommendations with current hiring trends.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04488" y="2816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Analytics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31012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Institutional dashboard for colleges to view aggregate student interest trends per domain.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84848" y="2816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Multi-Language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331012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Support Tamil, Hindi, and other regional languages to increase accessibility across India.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4572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381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381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502920"/>
            <a:ext cx="457200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DATA SCIENCE PROJECT  ·  2024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Thank You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Course Interest Recommendation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67004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An AI-powered data science approach to personalised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tech career path guidance for students.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474720"/>
            <a:ext cx="1691640" cy="1207008"/>
          </a:xfrm>
          <a:prstGeom prst="roundRect">
            <a:avLst>
              <a:gd name="adj" fmla="val 7576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2958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0392" y="3904488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Personalised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" y="4160520"/>
            <a:ext cx="1581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14 domains mapped to user DNA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97480" y="3474720"/>
            <a:ext cx="1691640" cy="1207008"/>
          </a:xfrm>
          <a:prstGeom prst="roundRect">
            <a:avLst>
              <a:gd name="adj" fmla="val 7576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97480" y="352958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70632" y="3904488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Instant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52344" y="4160520"/>
            <a:ext cx="1581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Results in under 2 seconds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3474720"/>
            <a:ext cx="1691640" cy="1207008"/>
          </a:xfrm>
          <a:prstGeom prst="roundRect">
            <a:avLst>
              <a:gd name="adj" fmla="val 7576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352958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90872" y="3904488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Scalable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72584" y="4160520"/>
            <a:ext cx="1581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ML-ready architecture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37960" y="3474720"/>
            <a:ext cx="1691640" cy="1207008"/>
          </a:xfrm>
          <a:prstGeom prst="roundRect">
            <a:avLst>
              <a:gd name="adj" fmla="val 7576"/>
            </a:avLst>
          </a:prstGeom>
          <a:solidFill>
            <a:srgbClr val="0F2040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3529584"/>
            <a:ext cx="1691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11112" y="3904488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Impactful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92824" y="4160520"/>
            <a:ext cx="1581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Reduces placement mismatch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Interest Recommendation System</dc:title>
  <dc:subject>PptxGenJS Presentation</dc:subject>
  <dc:creator>PptxGenJS</dc:creator>
  <cp:lastModifiedBy>PptxGenJS</cp:lastModifiedBy>
  <cp:revision>1</cp:revision>
  <dcterms:created xsi:type="dcterms:W3CDTF">2026-06-24T07:09:29Z</dcterms:created>
  <dcterms:modified xsi:type="dcterms:W3CDTF">2026-06-24T07:09:29Z</dcterms:modified>
</cp:coreProperties>
</file>